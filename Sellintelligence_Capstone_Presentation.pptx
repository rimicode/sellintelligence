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9"/>
  </p:notesMasterIdLst>
  <p:sldIdLst>
    <p:sldId id="256" r:id="rId2"/>
    <p:sldId id="714" r:id="rId3"/>
    <p:sldId id="674" r:id="rId4"/>
    <p:sldId id="713" r:id="rId5"/>
    <p:sldId id="712" r:id="rId6"/>
    <p:sldId id="676" r:id="rId7"/>
    <p:sldId id="715" r:id="rId8"/>
    <p:sldId id="716" r:id="rId9"/>
    <p:sldId id="717" r:id="rId10"/>
    <p:sldId id="718" r:id="rId11"/>
    <p:sldId id="719" r:id="rId12"/>
    <p:sldId id="720" r:id="rId13"/>
    <p:sldId id="721" r:id="rId14"/>
    <p:sldId id="722" r:id="rId15"/>
    <p:sldId id="723" r:id="rId16"/>
    <p:sldId id="711" r:id="rId17"/>
    <p:sldId id="3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12-07-2026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I'm Rimi, and my capstone project is Sellintelligence - predicting digital marketing conversions with machine learning to maximise return on ad spend.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flow: the problem, the data, my methodology, model building and evaluation, then the churn analysis, the business impact, and a live look at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simple: marketing teams show ads to everyone, but not everyone converts. Every ad shown to someone who was never going to buy is wasted money, and that drags down ROAS. My objective was a model that predicts, per customer, whether they'll convert - so budget goes to the right people.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8,000 customers, 20 features, no missing values. The key number: 87.65% converted, only 12.35% didn't. That imbalance shaped every decision - accuracy alone means nothing 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end-to-end pipeline: load, explore, engineer features, train four classifiers, then re-evaluate everything leak-free with pipelines and 5-fold CV, score every customer, and export to Power BI.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findings: no channel dominates, income doesn't separate buyers from non-buyers, and no redundant features. The takeaway: behaviour, not demographics, is where the signal lives.</a:t>
            </a:r>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Standard preprocessing - but the highlight is honesty: my first pass fitted the scaler on the whole dataset before splitting, a subtle data leak. I caught it and rebuilt preprocessing inside a pipeline so each CV fold fits its own scaler. Finding and fixing that was one of my biggest learnings.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classifiers under identical conditions. Gradient boosting has the best accuracy at 0.91 and the best AUC. But look at the last column - class-0 recall, the share of non-converters caught. That column decides the champion, and I'll come back to it.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champion's confusion matrix - 145 of 198 real non-converters caught, 73%, at the cost of some false alarms. Right: ROC curves - all four models comfortably above the random diagonal.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of the imbalance, precision-recall is the honest view - a no-skill model already sits at 0.88 precision, so skill is the lift above that line. The gain chart: top decile converts at 96.6% versus the 87.7% average.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slide. Why logistic regression when gradient boosting has better accuracy? Because the business goal is protecting ad budget - catching people who will NOT buy. LR catches 73% of them, GB 33%, RF 7%. A model missing two-thirds of non-buyers can't power ad suppression, whatever its AUC. And LR is fully interpretable. Choosing by business fit, not leaderboard - the main lesson of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subscription dates, so churn is a proxy I state openly: an existing customer who didn't convert counts as lapsed - 798 of 7,162, 11.1%. Two patterns: low-engagement customers churn at nearly double the rate, and email churns most while PPC is most loyal. The 1,445 high-risk customers go into retention campaigns.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Turning predictions into money: 6,868 hot leads, 995 warm, 137 cold. At $50 per ad, suppressing the correctly-identified non-converters saves about $9,750 - and that's the conservative default-threshold floor. Deploy as a suppression list first: immediate, measurable saving.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lands in a three-page Power BI dashboard - marketing summary, churn patterns, model performance. All visuals are live and cross-filter each other. DEMO: click Email in the channel slicer on page 1; click the High Risk donut slice on page 2; switch the Model dropdown to Random Forest on page 3 and watch the confusion matrix flip.</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wrap up: end-to-end pipeline from raw campaign data to an interactive decision tool. Champion catches 73% of non-converters. Deploy as a suppression list, tier the contact strategy, retention for high-risk, retrain quarterly. Future work: real churn labels and uplift modelling. Thank you.</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Pause. Breathe. You prepared 40 answers in the guide - most questions will be one of them.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panel. Done!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59027" y="3023239"/>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4000" b="1" dirty="0" err="1">
                <a:solidFill>
                  <a:srgbClr val="FFFFFF"/>
                </a:solidFill>
              </a:rPr>
              <a:t>Sellintelligence</a:t>
            </a:r>
            <a:endParaRPr sz="4000" b="1" dirty="0">
              <a:solidFill>
                <a:srgbClr val="FFFFFF"/>
              </a:solidFill>
            </a:endParaRPr>
          </a:p>
          <a:p>
            <a:pPr algn="ctr"/>
            <a:r>
              <a:rPr sz="2000" dirty="0">
                <a:solidFill>
                  <a:srgbClr val="FFFFFF"/>
                </a:solidFill>
              </a:rPr>
              <a:t>Digital Marketing Campaign Conversion Prediction &amp; ROAS Optimization</a:t>
            </a:r>
          </a:p>
        </p:txBody>
      </p:sp>
      <p:sp>
        <p:nvSpPr>
          <p:cNvPr id="4" name="TextBox 3">
            <a:extLst>
              <a:ext uri="{FF2B5EF4-FFF2-40B4-BE49-F238E27FC236}">
                <a16:creationId xmlns:a16="http://schemas.microsoft.com/office/drawing/2014/main" id="{B746CB24-3315-6C0E-3845-E8A952D6DB27}"/>
              </a:ext>
            </a:extLst>
          </p:cNvPr>
          <p:cNvSpPr txBox="1"/>
          <p:nvPr/>
        </p:nvSpPr>
        <p:spPr>
          <a:xfrm>
            <a:off x="159026" y="6281530"/>
            <a:ext cx="6768547" cy="307777"/>
          </a:xfrm>
          <a:prstGeom prst="rect">
            <a:avLst/>
          </a:prstGeom>
          <a:noFill/>
        </p:spPr>
        <p:txBody>
          <a:bodyPr wrap="square">
            <a:spAutoFit/>
          </a:bodyPr>
          <a:lstStyle/>
          <a:p>
            <a:r>
              <a:rPr lang="en-US" sz="1400" dirty="0">
                <a:solidFill>
                  <a:srgbClr val="D8E1EE"/>
                </a:solidFill>
              </a:rPr>
              <a:t>Capstone Project  |  Presented by: Rimi Kumari </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wrap="square"/>
          <a:lstStyle/>
          <a:p>
            <a:r>
              <a:rPr sz="1600"/>
              <a:t>Problem Statement &amp; Objectives</a:t>
            </a:r>
            <a:endParaRPr lang="en-IN"/>
          </a:p>
          <a:p>
            <a:r>
              <a:rPr sz="1600"/>
              <a:t>Dataset Overview</a:t>
            </a:r>
          </a:p>
          <a:p>
            <a:r>
              <a:rPr sz="1600"/>
              <a:t>Methodology - End-to-End Pipeline</a:t>
            </a:r>
          </a:p>
          <a:p>
            <a:r>
              <a:rPr sz="1600"/>
              <a:t>Exploratory Data Analysis</a:t>
            </a:r>
          </a:p>
          <a:p>
            <a:r>
              <a:rPr sz="1600"/>
              <a:t>Feature Engineering &amp; Preprocessing</a:t>
            </a:r>
          </a:p>
          <a:p>
            <a:r>
              <a:rPr sz="1600"/>
              <a:t>Model Selection &amp; Evaluation (4 Classifiers)</a:t>
            </a:r>
          </a:p>
          <a:p>
            <a:r>
              <a:rPr sz="1600"/>
              <a:t>Champion Model - Why Logistic Regression</a:t>
            </a:r>
          </a:p>
          <a:p>
            <a:r>
              <a:rPr sz="1600"/>
              <a:t>Churn Analysis</a:t>
            </a:r>
          </a:p>
          <a:p>
            <a:r>
              <a:rPr sz="1600"/>
              <a:t>Business Impact &amp; ROAS</a:t>
            </a:r>
          </a:p>
          <a:p>
            <a:r>
              <a:rPr sz="1600"/>
              <a:t>Power BI Dashboard (Live Demo)</a:t>
            </a:r>
          </a:p>
          <a:p>
            <a:r>
              <a:rPr sz="1600"/>
              <a:t>Conclusions &amp; Recommendations</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t>Problem Statement &amp; Objectives</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wrap="square"/>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sz="1700"/>
              <a:t>The problem: marketing shows ads to everyone, but not everyone converts - wasted ad spend drags down return on ad spend (ROAS)</a:t>
            </a:r>
          </a:p>
          <a:p>
            <a:r>
              <a:rPr sz="1700"/>
              <a:t>The goal: build a machine learning model that predicts which customers will convert, using demographic and engagement data</a:t>
            </a:r>
          </a:p>
          <a:p>
            <a:r>
              <a:rPr sz="1700"/>
              <a:t>Business objectives:</a:t>
            </a:r>
          </a:p>
          <a:p>
            <a:pPr lvl="1"/>
            <a:r>
              <a:rPr sz="1500"/>
              <a:t>Improved targeting - focus budget on customers likely to buy</a:t>
            </a:r>
          </a:p>
          <a:p>
            <a:pPr lvl="1"/>
            <a:r>
              <a:rPr sz="1500"/>
              <a:t>Cost optimisation - stop paying to advertise to customers who won't convert</a:t>
            </a:r>
          </a:p>
          <a:p>
            <a:pPr lvl="1"/>
            <a:r>
              <a:rPr sz="1500"/>
              <a:t>Better campaigns - understand which factors actually drive conversion</a:t>
            </a:r>
          </a:p>
          <a:p>
            <a:r>
              <a:rPr sz="1700"/>
              <a:t>Deliverables: documented notebook, trained model, final report, interactive Power BI dashboard (churn patterns + model performance)</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t>Dataset Overview</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wrap="square"/>
          <a:lstStyle/>
          <a:p>
            <a:r>
              <a:rPr sz="1400"/>
              <a:t>Digital marketing campaign dataset</a:t>
            </a:r>
            <a:endParaRPr lang="en-IN"/>
          </a:p>
          <a:p>
            <a:r>
              <a:rPr sz="1400"/>
              <a:t>Demographics: Age, Gender, Income</a:t>
            </a:r>
          </a:p>
          <a:p>
            <a:r>
              <a:rPr sz="1400"/>
              <a:t>Campaign: Channel (Email, PPC, Referral, SEO, Social Media), Type (Awareness, Consideration, Conversion, Retention)</a:t>
            </a:r>
          </a:p>
          <a:p>
            <a:r>
              <a:rPr sz="1400"/>
              <a:t>Engagement: AdSpend, CTR, WebsiteVisits, PagesPerVisit, TimeOnSite, EmailOpens/Clicks, SocialShares</a:t>
            </a:r>
          </a:p>
          <a:p>
            <a:r>
              <a:rPr sz="1400"/>
              <a:t>History: PreviousPurchases, LoyaltyPoints</a:t>
            </a:r>
          </a:p>
          <a:p>
            <a:r>
              <a:rPr sz="1400"/>
              <a:t>Target: Conversion (1 / 0)</a:t>
            </a:r>
          </a:p>
        </p:txBody>
      </p:sp>
      <p:sp>
        <p:nvSpPr>
          <p:cNvPr id="6" name="TextBox 5"/>
          <p:cNvSpPr txBox="1"/>
          <p:nvPr/>
        </p:nvSpPr>
        <p:spPr>
          <a:xfrm>
            <a:off x="6446520" y="1234440"/>
            <a:ext cx="2286000" cy="594360"/>
          </a:xfrm>
          <a:prstGeom prst="rect">
            <a:avLst/>
          </a:prstGeom>
          <a:noFill/>
        </p:spPr>
        <p:txBody>
          <a:bodyPr wrap="square">
            <a:spAutoFit/>
          </a:bodyPr>
          <a:lstStyle/>
          <a:p>
            <a:r>
              <a:rPr sz="3200" b="1">
                <a:solidFill>
                  <a:srgbClr val="FFFFFF"/>
                </a:solidFill>
              </a:rPr>
              <a:t>8,000</a:t>
            </a:r>
          </a:p>
        </p:txBody>
      </p:sp>
      <p:sp>
        <p:nvSpPr>
          <p:cNvPr id="7" name="TextBox 6"/>
          <p:cNvSpPr txBox="1"/>
          <p:nvPr/>
        </p:nvSpPr>
        <p:spPr>
          <a:xfrm>
            <a:off x="8778240" y="1362456"/>
            <a:ext cx="3063240" cy="914400"/>
          </a:xfrm>
          <a:prstGeom prst="rect">
            <a:avLst/>
          </a:prstGeom>
          <a:noFill/>
        </p:spPr>
        <p:txBody>
          <a:bodyPr wrap="square">
            <a:spAutoFit/>
          </a:bodyPr>
          <a:lstStyle/>
          <a:p>
            <a:r>
              <a:rPr sz="1300" b="0">
                <a:solidFill>
                  <a:srgbClr val="FFFFFF"/>
                </a:solidFill>
              </a:rPr>
              <a:t>customers</a:t>
            </a:r>
          </a:p>
        </p:txBody>
      </p:sp>
      <p:sp>
        <p:nvSpPr>
          <p:cNvPr id="8" name="TextBox 7"/>
          <p:cNvSpPr txBox="1"/>
          <p:nvPr/>
        </p:nvSpPr>
        <p:spPr>
          <a:xfrm>
            <a:off x="6446520" y="2441448"/>
            <a:ext cx="2286000" cy="594360"/>
          </a:xfrm>
          <a:prstGeom prst="rect">
            <a:avLst/>
          </a:prstGeom>
          <a:noFill/>
        </p:spPr>
        <p:txBody>
          <a:bodyPr wrap="square">
            <a:spAutoFit/>
          </a:bodyPr>
          <a:lstStyle/>
          <a:p>
            <a:r>
              <a:rPr sz="3200" b="1">
                <a:solidFill>
                  <a:srgbClr val="FFFFFF"/>
                </a:solidFill>
              </a:rPr>
              <a:t>20</a:t>
            </a:r>
          </a:p>
        </p:txBody>
      </p:sp>
      <p:sp>
        <p:nvSpPr>
          <p:cNvPr id="9" name="TextBox 8"/>
          <p:cNvSpPr txBox="1"/>
          <p:nvPr/>
        </p:nvSpPr>
        <p:spPr>
          <a:xfrm>
            <a:off x="8778240" y="2569464"/>
            <a:ext cx="3063240" cy="914400"/>
          </a:xfrm>
          <a:prstGeom prst="rect">
            <a:avLst/>
          </a:prstGeom>
          <a:noFill/>
        </p:spPr>
        <p:txBody>
          <a:bodyPr wrap="square">
            <a:spAutoFit/>
          </a:bodyPr>
          <a:lstStyle/>
          <a:p>
            <a:r>
              <a:rPr sz="1300" b="0">
                <a:solidFill>
                  <a:srgbClr val="FFFFFF"/>
                </a:solidFill>
              </a:rPr>
              <a:t>features - no missing values</a:t>
            </a:r>
          </a:p>
        </p:txBody>
      </p:sp>
      <p:sp>
        <p:nvSpPr>
          <p:cNvPr id="10" name="TextBox 9"/>
          <p:cNvSpPr txBox="1"/>
          <p:nvPr/>
        </p:nvSpPr>
        <p:spPr>
          <a:xfrm>
            <a:off x="6446520" y="3648456"/>
            <a:ext cx="2286000" cy="594360"/>
          </a:xfrm>
          <a:prstGeom prst="rect">
            <a:avLst/>
          </a:prstGeom>
          <a:noFill/>
        </p:spPr>
        <p:txBody>
          <a:bodyPr wrap="square">
            <a:spAutoFit/>
          </a:bodyPr>
          <a:lstStyle/>
          <a:p>
            <a:r>
              <a:rPr sz="3200" b="1">
                <a:solidFill>
                  <a:srgbClr val="FFFFFF"/>
                </a:solidFill>
              </a:rPr>
              <a:t>87.65%</a:t>
            </a:r>
          </a:p>
        </p:txBody>
      </p:sp>
      <p:sp>
        <p:nvSpPr>
          <p:cNvPr id="11" name="TextBox 10"/>
          <p:cNvSpPr txBox="1"/>
          <p:nvPr/>
        </p:nvSpPr>
        <p:spPr>
          <a:xfrm>
            <a:off x="8778240" y="3776472"/>
            <a:ext cx="3063240" cy="914400"/>
          </a:xfrm>
          <a:prstGeom prst="rect">
            <a:avLst/>
          </a:prstGeom>
          <a:noFill/>
        </p:spPr>
        <p:txBody>
          <a:bodyPr wrap="square">
            <a:spAutoFit/>
          </a:bodyPr>
          <a:lstStyle/>
          <a:p>
            <a:r>
              <a:rPr sz="1300" b="0">
                <a:solidFill>
                  <a:srgbClr val="FFFFFF"/>
                </a:solidFill>
              </a:rPr>
              <a:t>converted (class 1)</a:t>
            </a:r>
          </a:p>
        </p:txBody>
      </p:sp>
      <p:sp>
        <p:nvSpPr>
          <p:cNvPr id="12" name="TextBox 11"/>
          <p:cNvSpPr txBox="1"/>
          <p:nvPr/>
        </p:nvSpPr>
        <p:spPr>
          <a:xfrm>
            <a:off x="6446520" y="4855464"/>
            <a:ext cx="2286000" cy="594360"/>
          </a:xfrm>
          <a:prstGeom prst="rect">
            <a:avLst/>
          </a:prstGeom>
          <a:noFill/>
        </p:spPr>
        <p:txBody>
          <a:bodyPr wrap="square">
            <a:spAutoFit/>
          </a:bodyPr>
          <a:lstStyle/>
          <a:p>
            <a:r>
              <a:rPr sz="3200" b="1">
                <a:solidFill>
                  <a:srgbClr val="FFFFFF"/>
                </a:solidFill>
              </a:rPr>
              <a:t>12.35%</a:t>
            </a:r>
          </a:p>
        </p:txBody>
      </p:sp>
      <p:sp>
        <p:nvSpPr>
          <p:cNvPr id="13" name="TextBox 12"/>
          <p:cNvSpPr txBox="1"/>
          <p:nvPr/>
        </p:nvSpPr>
        <p:spPr>
          <a:xfrm>
            <a:off x="8778240" y="4983480"/>
            <a:ext cx="3063240" cy="914400"/>
          </a:xfrm>
          <a:prstGeom prst="rect">
            <a:avLst/>
          </a:prstGeom>
          <a:noFill/>
        </p:spPr>
        <p:txBody>
          <a:bodyPr wrap="square">
            <a:spAutoFit/>
          </a:bodyPr>
          <a:lstStyle/>
          <a:p>
            <a:r>
              <a:rPr sz="1300" b="0">
                <a:solidFill>
                  <a:srgbClr val="FFFFFF"/>
                </a:solidFill>
              </a:rPr>
              <a:t>did not convert - the class that protects budget</a:t>
            </a:r>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r>
              <a:t>Methodology - End-to-End Pipeline</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wrap="square"/>
          <a:lstStyle/>
          <a:p>
            <a:r>
              <a:rPr sz="1500"/>
              <a:t>1. Load &amp; inspect the data (8,000 rows, baseline conversion 87.65%)</a:t>
            </a:r>
            <a:endParaRPr lang="en-IN"/>
          </a:p>
          <a:p>
            <a:r>
              <a:rPr sz="1500"/>
              <a:t>2. EDA - channels, income, correlation checks</a:t>
            </a:r>
          </a:p>
          <a:p>
            <a:r>
              <a:rPr sz="1500"/>
              <a:t>3. Feature engineering - one-hot encoding + standard scaling</a:t>
            </a:r>
          </a:p>
          <a:p>
            <a:r>
              <a:rPr sz="1500"/>
              <a:t>4. Train 4 classifiers on a stratified 80/20 split</a:t>
            </a:r>
          </a:p>
          <a:p>
            <a:r>
              <a:rPr sz="1500"/>
              <a:t>5. Honest evaluation - preprocessing inside sklearn Pipelines, 5-fold stratified CV (no data leakage)</a:t>
            </a:r>
          </a:p>
          <a:p>
            <a:r>
              <a:rPr sz="1500"/>
              <a:t>6. Score all customers -&gt; lead tiers + churn risk</a:t>
            </a:r>
          </a:p>
          <a:p>
            <a:r>
              <a:rPr sz="1500"/>
              <a:t>7. Export everything to Power BI for the interactive dashboard</a:t>
            </a:r>
          </a:p>
        </p:txBody>
      </p:sp>
      <p:sp>
        <p:nvSpPr>
          <p:cNvPr id="6" name="TextBox 5"/>
          <p:cNvSpPr txBox="1"/>
          <p:nvPr/>
        </p:nvSpPr>
        <p:spPr>
          <a:xfrm>
            <a:off x="502920" y="2788920"/>
            <a:ext cx="3200400" cy="1737360"/>
          </a:xfrm>
          <a:prstGeom prst="rect">
            <a:avLst/>
          </a:prstGeom>
          <a:noFill/>
        </p:spPr>
        <p:txBody>
          <a:bodyPr wrap="square">
            <a:spAutoFit/>
          </a:bodyPr>
          <a:lstStyle/>
          <a:p>
            <a:r>
              <a:rPr sz="3000" b="1">
                <a:solidFill>
                  <a:srgbClr val="FFFFFF"/>
                </a:solidFill>
              </a:rPr>
              <a:t>7 STEPS</a:t>
            </a:r>
          </a:p>
          <a:p>
            <a:r>
              <a:rPr sz="1500" b="0">
                <a:solidFill>
                  <a:srgbClr val="FFFFFF"/>
                </a:solidFill>
              </a:rPr>
              <a:t>raw data</a:t>
            </a:r>
          </a:p>
          <a:p>
            <a:r>
              <a:rPr sz="1500" b="0">
                <a:solidFill>
                  <a:srgbClr val="FFFFFF"/>
                </a:solidFill>
              </a:rPr>
              <a:t>→ live dashboard</a:t>
            </a:r>
          </a:p>
        </p:txBody>
      </p:sp>
    </p:spTree>
    <p:extLst>
      <p:ext uri="{BB962C8B-B14F-4D97-AF65-F5344CB8AC3E}">
        <p14:creationId xmlns:p14="http://schemas.microsoft.com/office/powerpoint/2010/main" val="159436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t>Exploratory Data Analysis</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wrap="square" lIns="0" tIns="0" rIns="0" bIns="0" numCol="2">
            <a:normAutofit/>
          </a:bodyPr>
          <a:lstStyle/>
          <a:p>
            <a:pPr marL="0" indent="0">
              <a:buNone/>
            </a:pPr>
            <a:r>
              <a:rPr sz="1400"/>
              <a:t>All five channels deliver similar conversion volumes; income doesn't separate buyers from non-buyers; no problematic feature correlations</a:t>
            </a:r>
            <a:endParaRPr lang="en-IN" sz="2200" dirty="0"/>
          </a:p>
        </p:txBody>
      </p:sp>
      <p:pic>
        <p:nvPicPr>
          <p:cNvPr id="5" name="Picture 4" descr="nb_PHASE_1B_0.png"/>
          <p:cNvPicPr>
            <a:picLocks noChangeAspect="1"/>
          </p:cNvPicPr>
          <p:nvPr/>
        </p:nvPicPr>
        <p:blipFill>
          <a:blip r:embed="rId3"/>
          <a:stretch>
            <a:fillRect/>
          </a:stretch>
        </p:blipFill>
        <p:spPr>
          <a:xfrm>
            <a:off x="502920" y="2743200"/>
            <a:ext cx="11155680" cy="3031604"/>
          </a:xfrm>
          <a:prstGeom prst="rect">
            <a:avLst/>
          </a:prstGeom>
        </p:spPr>
      </p:pic>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Feature Engineering &amp; Preprocessing</a:t>
            </a:r>
          </a:p>
        </p:txBody>
      </p:sp>
      <p:sp>
        <p:nvSpPr>
          <p:cNvPr id="3" name="Content Placeholder 2"/>
          <p:cNvSpPr>
            <a:spLocks noGrp="1"/>
          </p:cNvSpPr>
          <p:nvPr>
            <p:ph idx="1"/>
          </p:nvPr>
        </p:nvSpPr>
        <p:spPr/>
        <p:txBody>
          <a:bodyPr wrap="square"/>
          <a:lstStyle/>
          <a:p>
            <a:r>
              <a:rPr sz="1700"/>
              <a:t>Dropped non-predictive columns: CustomerID + two masked vendor columns</a:t>
            </a:r>
          </a:p>
          <a:p>
            <a:r>
              <a:rPr sz="1700"/>
              <a:t>One-hot encoded categoricals (Gender, Channel, Campaign Type) with drop_first=True - avoids the dummy variable trap</a:t>
            </a:r>
          </a:p>
          <a:p>
            <a:r>
              <a:rPr sz="1700"/>
              <a:t>StandardScaler on numerics - so Income can't dominate Age just because of scale</a:t>
            </a:r>
          </a:p>
          <a:p>
            <a:r>
              <a:rPr sz="1700"/>
              <a:t>16 raw features became 21 model features</a:t>
            </a:r>
          </a:p>
          <a:p>
            <a:r>
              <a:rPr sz="1700"/>
              <a:t>Leakage control (the part most projects miss):</a:t>
            </a:r>
          </a:p>
          <a:p>
            <a:pPr lvl="1"/>
            <a:r>
              <a:rPr sz="1500"/>
              <a:t>First pass fit the scaler before splitting - that leaks test information</a:t>
            </a:r>
          </a:p>
          <a:p>
            <a:pPr lvl="1"/>
            <a:r>
              <a:rPr sz="1500"/>
              <a:t>Fixed by rebuilding preprocessing inside sklearn Pipeline + ColumnTransformer - every CV fold fits its own scaler/encoder</a:t>
            </a:r>
          </a:p>
          <a:p>
            <a:r>
              <a:rPr sz="1700"/>
              <a:t>Class imbalance: class_weight='balanced' so the 13% non-converters are not ignored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Model Selection - 4 Classifiers</a:t>
            </a:r>
          </a:p>
        </p:txBody>
      </p:sp>
      <p:sp>
        <p:nvSpPr>
          <p:cNvPr id="3" name="Content Placeholder 2"/>
          <p:cNvSpPr>
            <a:spLocks noGrp="1"/>
          </p:cNvSpPr>
          <p:nvPr>
            <p:ph sz="half" idx="1"/>
          </p:nvPr>
        </p:nvSpPr>
        <p:spPr/>
        <p:txBody>
          <a:bodyPr wrap="square"/>
          <a:lstStyle/>
          <a:p>
            <a:r>
              <a:rPr sz="1500"/>
              <a:t>Logistic Regression - interpretable linear baseline</a:t>
            </a:r>
          </a:p>
          <a:p>
            <a:r>
              <a:rPr sz="1500"/>
              <a:t>Decision Tree - simple non-linear model</a:t>
            </a:r>
          </a:p>
          <a:p>
            <a:r>
              <a:rPr sz="1500"/>
              <a:t>Random Forest - bagging ensemble (300 trees)</a:t>
            </a:r>
          </a:p>
          <a:p>
            <a:r>
              <a:rPr sz="1500"/>
              <a:t>Gradient Boosting - boosting ensemble, strongest headline numbers</a:t>
            </a:r>
          </a:p>
          <a:p>
            <a:endParaRPr sz="1500"/>
          </a:p>
          <a:p>
            <a:r>
              <a:rPr sz="1500"/>
              <a:t>All trained on the same stratified 80/20 split inside the same leak-free pipeline - scores are directly comparable</a:t>
            </a:r>
          </a:p>
          <a:p>
            <a:endParaRPr sz="1500"/>
          </a:p>
          <a:p>
            <a:r>
              <a:rPr sz="1500"/>
              <a:t>Watch the LAST column - the share of non-converters each model catches. It decides the champion.</a:t>
            </a:r>
          </a:p>
        </p:txBody>
      </p:sp>
      <p:pic>
        <p:nvPicPr>
          <p:cNvPr id="4" name="Picture 3" descr="tile_metrics_table.png"/>
          <p:cNvPicPr>
            <a:picLocks noChangeAspect="1"/>
          </p:cNvPicPr>
          <p:nvPr/>
        </p:nvPicPr>
        <p:blipFill>
          <a:blip r:embed="rId3"/>
          <a:stretch>
            <a:fillRect/>
          </a:stretch>
        </p:blipFill>
        <p:spPr>
          <a:xfrm>
            <a:off x="5989320" y="2377440"/>
            <a:ext cx="5897880" cy="19845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Evaluation - Confusion Matrix &amp; ROC</a:t>
            </a:r>
          </a:p>
        </p:txBody>
      </p:sp>
      <p:pic>
        <p:nvPicPr>
          <p:cNvPr id="3" name="Picture 2" descr="cm_champion.png"/>
          <p:cNvPicPr>
            <a:picLocks noChangeAspect="1"/>
          </p:cNvPicPr>
          <p:nvPr/>
        </p:nvPicPr>
        <p:blipFill>
          <a:blip r:embed="rId3"/>
          <a:stretch>
            <a:fillRect/>
          </a:stretch>
        </p:blipFill>
        <p:spPr>
          <a:xfrm>
            <a:off x="685800" y="1783080"/>
            <a:ext cx="5212080" cy="3722914"/>
          </a:xfrm>
          <a:prstGeom prst="rect">
            <a:avLst/>
          </a:prstGeom>
        </p:spPr>
      </p:pic>
      <p:pic>
        <p:nvPicPr>
          <p:cNvPr id="4" name="Picture 3" descr="roc_all.png"/>
          <p:cNvPicPr>
            <a:picLocks noChangeAspect="1"/>
          </p:cNvPicPr>
          <p:nvPr/>
        </p:nvPicPr>
        <p:blipFill>
          <a:blip r:embed="rId4"/>
          <a:stretch>
            <a:fillRect/>
          </a:stretch>
        </p:blipFill>
        <p:spPr>
          <a:xfrm>
            <a:off x="6355080" y="1783080"/>
            <a:ext cx="5212080" cy="3909060"/>
          </a:xfrm>
          <a:prstGeom prst="rect">
            <a:avLst/>
          </a:prstGeom>
        </p:spPr>
      </p:pic>
      <p:sp>
        <p:nvSpPr>
          <p:cNvPr id="5" name="TextBox 4"/>
          <p:cNvSpPr txBox="1"/>
          <p:nvPr/>
        </p:nvSpPr>
        <p:spPr>
          <a:xfrm>
            <a:off x="685800" y="6035040"/>
            <a:ext cx="10881360" cy="640080"/>
          </a:xfrm>
          <a:prstGeom prst="rect">
            <a:avLst/>
          </a:prstGeom>
          <a:noFill/>
        </p:spPr>
        <p:txBody>
          <a:bodyPr wrap="square">
            <a:spAutoFit/>
          </a:bodyPr>
          <a:lstStyle/>
          <a:p>
            <a:pPr algn="ctr"/>
            <a:r>
              <a:rPr sz="1300" b="0"/>
              <a:t>The champion catches 145 of 198 real non-converters (73%) - every one is a saved ad. All four models sit comfortably above the random-guess diagonal.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Precision-Recall &amp; Gain Analysis</a:t>
            </a:r>
          </a:p>
        </p:txBody>
      </p:sp>
      <p:pic>
        <p:nvPicPr>
          <p:cNvPr id="3" name="Picture 2" descr="nb_PHASE_12_0.png"/>
          <p:cNvPicPr>
            <a:picLocks noChangeAspect="1"/>
          </p:cNvPicPr>
          <p:nvPr/>
        </p:nvPicPr>
        <p:blipFill>
          <a:blip r:embed="rId3"/>
          <a:stretch>
            <a:fillRect/>
          </a:stretch>
        </p:blipFill>
        <p:spPr>
          <a:xfrm>
            <a:off x="685800" y="1783080"/>
            <a:ext cx="5394960" cy="3750155"/>
          </a:xfrm>
          <a:prstGeom prst="rect">
            <a:avLst/>
          </a:prstGeom>
        </p:spPr>
      </p:pic>
      <p:pic>
        <p:nvPicPr>
          <p:cNvPr id="4" name="Picture 3" descr="gain_chart.png"/>
          <p:cNvPicPr>
            <a:picLocks noChangeAspect="1"/>
          </p:cNvPicPr>
          <p:nvPr/>
        </p:nvPicPr>
        <p:blipFill>
          <a:blip r:embed="rId4"/>
          <a:stretch>
            <a:fillRect/>
          </a:stretch>
        </p:blipFill>
        <p:spPr>
          <a:xfrm>
            <a:off x="6400800" y="1965960"/>
            <a:ext cx="5212080" cy="2895600"/>
          </a:xfrm>
          <a:prstGeom prst="rect">
            <a:avLst/>
          </a:prstGeom>
        </p:spPr>
      </p:pic>
      <p:sp>
        <p:nvSpPr>
          <p:cNvPr id="5" name="TextBox 4"/>
          <p:cNvSpPr txBox="1"/>
          <p:nvPr/>
        </p:nvSpPr>
        <p:spPr>
          <a:xfrm>
            <a:off x="685800" y="6035040"/>
            <a:ext cx="10881360" cy="640080"/>
          </a:xfrm>
          <a:prstGeom prst="rect">
            <a:avLst/>
          </a:prstGeom>
          <a:noFill/>
        </p:spPr>
        <p:txBody>
          <a:bodyPr wrap="square">
            <a:spAutoFit/>
          </a:bodyPr>
          <a:lstStyle/>
          <a:p>
            <a:pPr algn="ctr"/>
            <a:r>
              <a:rPr sz="1300" b="0"/>
              <a:t>With 87% of customers converting, a no-skill model already has 0.88 precision - the PR curve shows real skill as lift above that line. Top decile converts at 96.6% vs the 87.7% average.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Champion Model - Why Logistic Regression?</a:t>
            </a:r>
          </a:p>
        </p:txBody>
      </p:sp>
      <p:sp>
        <p:nvSpPr>
          <p:cNvPr id="3" name="Content Placeholder 2"/>
          <p:cNvSpPr>
            <a:spLocks noGrp="1"/>
          </p:cNvSpPr>
          <p:nvPr>
            <p:ph idx="1"/>
          </p:nvPr>
        </p:nvSpPr>
        <p:spPr/>
        <p:txBody>
          <a:bodyPr wrap="square"/>
          <a:lstStyle/>
          <a:p>
            <a:r>
              <a:rPr sz="1700"/>
              <a:t>Gradient Boosting has the best headline numbers: accuracy 0.910, ROC-AUC 0.817</a:t>
            </a:r>
          </a:p>
          <a:p>
            <a:r>
              <a:rPr sz="1700"/>
              <a:t>But the business goal is protecting ad budget - catching customers who will NOT convert:</a:t>
            </a:r>
          </a:p>
          <a:p>
            <a:pPr lvl="1"/>
            <a:r>
              <a:rPr sz="1500"/>
              <a:t>Logistic Regression catches 73% of non-converters</a:t>
            </a:r>
          </a:p>
          <a:p>
            <a:pPr lvl="1"/>
            <a:r>
              <a:rPr sz="1500"/>
              <a:t>Gradient Boosting catches only 33% - Random Forest just 7%</a:t>
            </a:r>
          </a:p>
          <a:p>
            <a:r>
              <a:rPr sz="1700"/>
              <a:t>A model that misses two-thirds of non-buyers cannot power an ad-suppression strategy, whatever its AUC</a:t>
            </a:r>
          </a:p>
          <a:p>
            <a:r>
              <a:rPr sz="1700"/>
              <a:t>Logistic Regression is also fully interpretable - coefficients show exactly what drives conversion (CTR, pages per visit, time on site, email engagement)</a:t>
            </a:r>
          </a:p>
          <a:p>
            <a:r>
              <a:rPr sz="1700"/>
              <a:t>Champion: Logistic Regression (ROC-AUC 0.781, PR-AUC 0.945, Class-0 recall 0.73)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Churn Analysis</a:t>
            </a:r>
          </a:p>
        </p:txBody>
      </p:sp>
      <p:sp>
        <p:nvSpPr>
          <p:cNvPr id="3" name="Content Placeholder 2"/>
          <p:cNvSpPr>
            <a:spLocks noGrp="1"/>
          </p:cNvSpPr>
          <p:nvPr>
            <p:ph sz="half" idx="1"/>
          </p:nvPr>
        </p:nvSpPr>
        <p:spPr/>
        <p:txBody>
          <a:bodyPr wrap="square"/>
          <a:lstStyle/>
          <a:p>
            <a:r>
              <a:rPr sz="1400"/>
              <a:t>Churn proxy (no subscription dates in the data): an existing customer (PreviousPurchases &gt; 0) who didn't convert this campaign</a:t>
            </a:r>
          </a:p>
          <a:p>
            <a:r>
              <a:rPr sz="1400"/>
              <a:t>7,162 existing customers - 798 lapsed (11.1%)</a:t>
            </a:r>
          </a:p>
          <a:p>
            <a:r>
              <a:rPr sz="1400"/>
              <a:t>Churn risk score = 1 - P(conversion), banded into High / Medium / Low tiers</a:t>
            </a:r>
          </a:p>
          <a:p>
            <a:r>
              <a:rPr sz="1400"/>
              <a:t>Key patterns:</a:t>
            </a:r>
          </a:p>
          <a:p>
            <a:pPr lvl="1"/>
            <a:r>
              <a:rPr sz="1200"/>
              <a:t>Low-engagement customers churn at 17.6% vs 9.3% - the earliest warning signal</a:t>
            </a:r>
          </a:p>
          <a:p>
            <a:pPr lvl="1"/>
            <a:r>
              <a:rPr sz="1200"/>
              <a:t>Email channel churns most (12.1%); PPC is most loyal (10.3%)</a:t>
            </a:r>
          </a:p>
          <a:p>
            <a:pPr lvl="1"/>
            <a:r>
              <a:rPr sz="1200"/>
              <a:t>1,445 High-Risk customers -&gt; route into Retention campaigns</a:t>
            </a:r>
          </a:p>
        </p:txBody>
      </p:sp>
      <p:pic>
        <p:nvPicPr>
          <p:cNvPr id="4" name="Picture 3" descr="churn_segments.png"/>
          <p:cNvPicPr>
            <a:picLocks noChangeAspect="1"/>
          </p:cNvPicPr>
          <p:nvPr/>
        </p:nvPicPr>
        <p:blipFill>
          <a:blip r:embed="rId3"/>
          <a:stretch>
            <a:fillRect/>
          </a:stretch>
        </p:blipFill>
        <p:spPr>
          <a:xfrm>
            <a:off x="6035040" y="2651760"/>
            <a:ext cx="5852160" cy="22508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Business Impact &amp; ROAS</a:t>
            </a:r>
          </a:p>
        </p:txBody>
      </p:sp>
      <p:sp>
        <p:nvSpPr>
          <p:cNvPr id="3" name="Content Placeholder 2"/>
          <p:cNvSpPr>
            <a:spLocks noGrp="1"/>
          </p:cNvSpPr>
          <p:nvPr>
            <p:ph sz="half" idx="1"/>
          </p:nvPr>
        </p:nvSpPr>
        <p:spPr/>
        <p:txBody>
          <a:bodyPr wrap="square"/>
          <a:lstStyle/>
          <a:p>
            <a:r>
              <a:rPr sz="1500"/>
              <a:t>AI lead tiers across 8,000 customers:</a:t>
            </a:r>
          </a:p>
          <a:p>
            <a:pPr lvl="1"/>
            <a:r>
              <a:rPr sz="1300"/>
              <a:t>Hot leads: 6,868 - focus premium ad budget here</a:t>
            </a:r>
          </a:p>
          <a:p>
            <a:pPr lvl="1"/>
            <a:r>
              <a:rPr sz="1300"/>
              <a:t>Warm leads: 995 - cheaper retargeting</a:t>
            </a:r>
          </a:p>
          <a:p>
            <a:pPr lvl="1"/>
            <a:r>
              <a:rPr sz="1300"/>
              <a:t>Cold leads: 137 - suppress the ads</a:t>
            </a:r>
          </a:p>
          <a:p>
            <a:r>
              <a:rPr sz="1500"/>
              <a:t>ROAS simulation at $50 per ad impression:</a:t>
            </a:r>
          </a:p>
          <a:p>
            <a:pPr lvl="1"/>
            <a:r>
              <a:rPr sz="1300"/>
              <a:t>195 correctly-suppressed non-converters = $9,750 saved</a:t>
            </a:r>
          </a:p>
          <a:p>
            <a:pPr lvl="1"/>
            <a:r>
              <a:rPr sz="1300"/>
              <a:t>A conservative floor - a tuned threshold grows the suppression pool several times over</a:t>
            </a:r>
          </a:p>
          <a:p>
            <a:r>
              <a:rPr sz="1500"/>
              <a:t>Strategy: deploy as a suppression list first - immediate, measurable saving</a:t>
            </a:r>
          </a:p>
        </p:txBody>
      </p:sp>
      <p:pic>
        <p:nvPicPr>
          <p:cNvPr id="4" name="Picture 3" descr="nb_PHASE_6_0.png"/>
          <p:cNvPicPr>
            <a:picLocks noChangeAspect="1"/>
          </p:cNvPicPr>
          <p:nvPr/>
        </p:nvPicPr>
        <p:blipFill>
          <a:blip r:embed="rId3"/>
          <a:stretch>
            <a:fillRect/>
          </a:stretch>
        </p:blipFill>
        <p:spPr>
          <a:xfrm>
            <a:off x="6126480" y="2148840"/>
            <a:ext cx="5715000" cy="33780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Power BI Dashboard - 3 Interactive Pages</a:t>
            </a:r>
          </a:p>
        </p:txBody>
      </p:sp>
      <p:sp>
        <p:nvSpPr>
          <p:cNvPr id="3" name="Content Placeholder 2"/>
          <p:cNvSpPr>
            <a:spLocks noGrp="1"/>
          </p:cNvSpPr>
          <p:nvPr>
            <p:ph idx="1"/>
          </p:nvPr>
        </p:nvSpPr>
        <p:spPr/>
        <p:txBody>
          <a:bodyPr wrap="square"/>
          <a:lstStyle/>
          <a:p>
            <a:r>
              <a:rPr sz="1700"/>
              <a:t>Marketing Summary - KPI cards, ROAS impact, lead quality, top conversion drivers, conversion by type / channel / age / gender / income, with campaign slicers</a:t>
            </a:r>
          </a:p>
          <a:p>
            <a:r>
              <a:rPr sz="1700"/>
              <a:t>Churn Patterns - churn KPIs (7,162 / 798 / 11.1%), churn rate by channel, age band and campaign type, risk tiers, engagement effect - every chart cross-filters</a:t>
            </a:r>
          </a:p>
          <a:p>
            <a:r>
              <a:rPr sz="1700"/>
              <a:t>Model Performance - metrics table, confusion matrix, ROC &amp; PR curves, gain chart, with a Model slicer that flips the whole page between the four classifiers</a:t>
            </a:r>
          </a:p>
          <a:p>
            <a:endParaRPr sz="1700"/>
          </a:p>
          <a:p>
            <a:r>
              <a:rPr sz="1700"/>
              <a:t>All data flows straight from the notebook exports - refresh once, everything updates</a:t>
            </a:r>
          </a:p>
          <a:p>
            <a:r>
              <a:rPr sz="1700"/>
              <a:t>(Live demo - watch the pages react as I click)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Conclusions &amp; Recommendations</a:t>
            </a:r>
          </a:p>
        </p:txBody>
      </p:sp>
      <p:sp>
        <p:nvSpPr>
          <p:cNvPr id="3" name="Content Placeholder 2"/>
          <p:cNvSpPr>
            <a:spLocks noGrp="1"/>
          </p:cNvSpPr>
          <p:nvPr>
            <p:ph idx="1"/>
          </p:nvPr>
        </p:nvSpPr>
        <p:spPr/>
        <p:txBody>
          <a:bodyPr wrap="square"/>
          <a:lstStyle/>
          <a:p>
            <a:r>
              <a:rPr sz="1600"/>
              <a:t>Built an end-to-end pipeline: EDA -&gt; features -&gt; 4 models -&gt; honest evaluation -&gt; churn scoring -&gt; dashboard</a:t>
            </a:r>
          </a:p>
          <a:p>
            <a:r>
              <a:rPr sz="1600"/>
              <a:t>Champion Logistic Regression catches 73% of non-converters - the metric that directly protects ad budget</a:t>
            </a:r>
          </a:p>
          <a:p>
            <a:r>
              <a:rPr sz="1600"/>
              <a:t>Recommendations:</a:t>
            </a:r>
          </a:p>
          <a:p>
            <a:pPr lvl="1"/>
            <a:r>
              <a:rPr sz="1400"/>
              <a:t>Deploy as an ad-suppression list first ($9,750 immediate simulated saving)</a:t>
            </a:r>
          </a:p>
          <a:p>
            <a:pPr lvl="1"/>
            <a:r>
              <a:rPr sz="1400"/>
              <a:t>Tier the contact strategy: premium ads for Hot, retargeting for Warm, suppress Cold</a:t>
            </a:r>
          </a:p>
          <a:p>
            <a:pPr lvl="1"/>
            <a:r>
              <a:rPr sz="1400"/>
              <a:t>Retention campaigns for the 1,445 High-Risk churn customers; watch engagement drops</a:t>
            </a:r>
          </a:p>
          <a:p>
            <a:pPr lvl="1"/>
            <a:r>
              <a:rPr sz="1400"/>
              <a:t>Retrain quarterly and monitor Class-0 recall; tune the threshold to the real cost ratio</a:t>
            </a:r>
          </a:p>
          <a:p>
            <a:r>
              <a:rPr sz="1600"/>
              <a:t>Future work: real churn labels (purchase timestamps), per-customer ad costs, uplift modelling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6897</TotalTime>
  <Words>1922</Words>
  <Application>Microsoft Office PowerPoint</Application>
  <PresentationFormat>Widescreen</PresentationFormat>
  <Paragraphs>134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BIA Template</vt:lpstr>
      <vt:lpstr>PowerPoint Presentation</vt:lpstr>
      <vt:lpstr>Agenda</vt:lpstr>
      <vt:lpstr>Problem Statement &amp; Objectives</vt:lpstr>
      <vt:lpstr>Dataset Overview</vt:lpstr>
      <vt:lpstr>Methodology - End-to-End Pipeline</vt:lpstr>
      <vt:lpstr>Exploratory Data Analysis</vt:lpstr>
      <vt:lpstr>Feature Engineering &amp; Preprocessing</vt:lpstr>
      <vt:lpstr>Model Selection - 4 Classifiers</vt:lpstr>
      <vt:lpstr>Evaluation - Confusion Matrix &amp; ROC</vt:lpstr>
      <vt:lpstr>Precision-Recall &amp; Gain Analysis</vt:lpstr>
      <vt:lpstr>Champion Model - Why Logistic Regression?</vt:lpstr>
      <vt:lpstr>Churn Analysis</vt:lpstr>
      <vt:lpstr>Business Impact &amp; ROAS</vt:lpstr>
      <vt:lpstr>Power BI Dashboard - 3 Interactive Pages</vt:lpstr>
      <vt:lpstr>Conclusions &amp; Recommendations</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Rimi Kumari</cp:lastModifiedBy>
  <cp:revision>2254</cp:revision>
  <dcterms:created xsi:type="dcterms:W3CDTF">2020-12-23T13:36:00Z</dcterms:created>
  <dcterms:modified xsi:type="dcterms:W3CDTF">2026-07-12T05:31:54Z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